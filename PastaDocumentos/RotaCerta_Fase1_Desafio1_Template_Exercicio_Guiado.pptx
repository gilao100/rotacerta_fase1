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18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endes" userId="7a82340aea9f0c8f" providerId="LiveId" clId="{73AF3C26-E17D-4714-90EB-BF944572CB02}"/>
    <pc:docChg chg="modSld">
      <pc:chgData name="Lucas Mendes" userId="7a82340aea9f0c8f" providerId="LiveId" clId="{73AF3C26-E17D-4714-90EB-BF944572CB02}" dt="2026-09-03T22:11:24.202" v="0" actId="13926"/>
      <pc:docMkLst>
        <pc:docMk/>
      </pc:docMkLst>
      <pc:sldChg chg="modSp mod">
        <pc:chgData name="Lucas Mendes" userId="7a82340aea9f0c8f" providerId="LiveId" clId="{73AF3C26-E17D-4714-90EB-BF944572CB02}" dt="2026-09-03T22:11:24.202" v="0" actId="13926"/>
        <pc:sldMkLst>
          <pc:docMk/>
          <pc:sldMk cId="0" sldId="258"/>
        </pc:sldMkLst>
        <pc:spChg chg="mod">
          <ac:chgData name="Lucas Mendes" userId="7a82340aea9f0c8f" providerId="LiveId" clId="{73AF3C26-E17D-4714-90EB-BF944572CB02}" dt="2026-09-03T22:11:24.202" v="0" actId="13926"/>
          <ac:spMkLst>
            <pc:docMk/>
            <pc:sldMk cId="0" sldId="258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PBL · FASE 1 — DESCOBERTA 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8308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800" b="1" i="0">
                <a:solidFill>
                  <a:srgbClr val="F5F7FF"/>
                </a:solidFill>
                <a:latin typeface="Calibri"/>
              </a:rPr>
              <a:t>MobiAlfa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5F7FF"/>
                </a:solidFill>
                <a:latin typeface="Calibri"/>
              </a:rPr>
              <a:t>Solução do Desafio 1 — Mobilidade e Transporte Inteligente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9AA7C7"/>
                </a:solidFill>
                <a:latin typeface="Calibri"/>
              </a:rPr>
              <a:t>Cidade Alfa · Secretaria de Inovação Urbana 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4617720"/>
            <a:ext cx="7955279" cy="1600200"/>
          </a:xfrm>
          <a:prstGeom prst="roundRect">
            <a:avLst>
              <a:gd name="adj" fmla="val 6000"/>
            </a:avLst>
          </a:prstGeom>
          <a:solidFill>
            <a:srgbClr val="0E1A36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773168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GRUPO ROTA CERTA  ·  FIAP · TURMA 1TSCO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74980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F5F7FF"/>
                </a:solidFill>
                <a:latin typeface="Calibri"/>
              </a:rPr>
              <a:t>Alan   ·   Ana Paula Bessa   ·   Gilberto Batista Medeiros   ·   Lucas Mendes   ·   Pedro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9AA7C7"/>
                </a:solidFill>
                <a:latin typeface="Calibri"/>
              </a:rPr>
              <a:t>Persona adotada: a sociedade de Alfa (cidadãos usuários do transporte público) · Solução: MobiAlfa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CIDADE ALFA · MOBIALFA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Mapa inicial da missão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813816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691640"/>
          <a:ext cx="7406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COMPONENTES (ordem alfabética)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Alan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Ana Paula Bessa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Gilberto Batista Medeiros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Lucas Mendes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Pedro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160520"/>
            <a:ext cx="74066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7C3AED"/>
                </a:solidFill>
                <a:latin typeface="Calibri"/>
              </a:rPr>
              <a:t>Nome do </a:t>
            </a:r>
            <a:r>
              <a:rPr sz="1500" b="1" i="0" dirty="0" err="1">
                <a:solidFill>
                  <a:srgbClr val="7C3AED"/>
                </a:solidFill>
                <a:latin typeface="Calibri"/>
              </a:rPr>
              <a:t>grupo</a:t>
            </a:r>
            <a:r>
              <a:rPr sz="1500" b="1" i="0" dirty="0">
                <a:solidFill>
                  <a:srgbClr val="7C3AED"/>
                </a:solidFill>
                <a:latin typeface="Calibri"/>
              </a:rPr>
              <a:t>:  </a:t>
            </a:r>
            <a:r>
              <a:rPr sz="1500" b="0" i="0" dirty="0">
                <a:solidFill>
                  <a:srgbClr val="14203B"/>
                </a:solidFill>
                <a:latin typeface="Calibri"/>
              </a:rPr>
              <a:t>Rota Certa</a:t>
            </a:r>
          </a:p>
          <a:p>
            <a:pPr algn="l">
              <a:spcAft>
                <a:spcPts val="600"/>
              </a:spcAft>
            </a:pPr>
            <a:r>
              <a:rPr sz="1500" b="1" i="0" dirty="0" err="1">
                <a:solidFill>
                  <a:srgbClr val="7C3AED"/>
                </a:solidFill>
                <a:latin typeface="Calibri"/>
              </a:rPr>
              <a:t>Desafio</a:t>
            </a:r>
            <a:r>
              <a:rPr sz="1500" b="1" i="0" dirty="0">
                <a:solidFill>
                  <a:srgbClr val="7C3AED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7C3AED"/>
                </a:solidFill>
                <a:latin typeface="Calibri"/>
              </a:rPr>
              <a:t>escolhido</a:t>
            </a:r>
            <a:r>
              <a:rPr sz="1500" b="1" i="0" dirty="0">
                <a:solidFill>
                  <a:srgbClr val="7C3AED"/>
                </a:solidFill>
                <a:latin typeface="Calibri"/>
              </a:rPr>
              <a:t>:  </a:t>
            </a:r>
            <a:r>
              <a:rPr sz="1500" b="0" i="0" dirty="0" err="1">
                <a:solidFill>
                  <a:srgbClr val="14203B"/>
                </a:solidFill>
                <a:latin typeface="Calibri"/>
              </a:rPr>
              <a:t>Desafio</a:t>
            </a:r>
            <a:r>
              <a:rPr sz="1500" b="0" i="0" dirty="0">
                <a:solidFill>
                  <a:srgbClr val="14203B"/>
                </a:solidFill>
                <a:latin typeface="Calibri"/>
              </a:rPr>
              <a:t> 1 – </a:t>
            </a:r>
            <a:r>
              <a:rPr sz="1500" b="0" i="0" dirty="0" err="1">
                <a:solidFill>
                  <a:srgbClr val="14203B"/>
                </a:solidFill>
                <a:latin typeface="Calibri"/>
              </a:rPr>
              <a:t>Mobilidade</a:t>
            </a:r>
            <a:r>
              <a:rPr sz="1500" b="0" i="0" dirty="0">
                <a:solidFill>
                  <a:srgbClr val="14203B"/>
                </a:solidFill>
                <a:latin typeface="Calibri"/>
              </a:rPr>
              <a:t> e Transporte </a:t>
            </a:r>
            <a:r>
              <a:rPr sz="1500" b="0" i="0" dirty="0" err="1">
                <a:solidFill>
                  <a:srgbClr val="14203B"/>
                </a:solidFill>
                <a:latin typeface="Calibri"/>
              </a:rPr>
              <a:t>Inteligente</a:t>
            </a:r>
            <a:endParaRPr sz="1500" b="0" i="0" dirty="0">
              <a:solidFill>
                <a:srgbClr val="14203B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7C3AED"/>
                </a:solidFill>
                <a:latin typeface="Calibri"/>
              </a:rPr>
              <a:t>Persona / </a:t>
            </a:r>
            <a:r>
              <a:rPr sz="1500" b="1" i="0" dirty="0" err="1">
                <a:solidFill>
                  <a:srgbClr val="7C3AED"/>
                </a:solidFill>
                <a:latin typeface="Calibri"/>
              </a:rPr>
              <a:t>foco</a:t>
            </a:r>
            <a:r>
              <a:rPr sz="1500" b="1" i="0" dirty="0">
                <a:solidFill>
                  <a:srgbClr val="7C3AED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a </a:t>
            </a:r>
            <a:r>
              <a:rPr sz="1350" b="0" i="0" dirty="0" err="1">
                <a:solidFill>
                  <a:srgbClr val="14203B"/>
                </a:solidFill>
                <a:latin typeface="Calibri"/>
              </a:rPr>
              <a:t>sociedade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 de Alfa (</a:t>
            </a:r>
            <a:r>
              <a:rPr sz="1350" b="0" i="0" dirty="0" err="1">
                <a:solidFill>
                  <a:srgbClr val="14203B"/>
                </a:solidFill>
                <a:latin typeface="Calibri"/>
              </a:rPr>
              <a:t>cidadãos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14203B"/>
                </a:solidFill>
                <a:latin typeface="Calibri"/>
              </a:rPr>
              <a:t>usuários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 do </a:t>
            </a:r>
            <a:r>
              <a:rPr sz="1350" b="0" i="0" dirty="0" err="1">
                <a:solidFill>
                  <a:srgbClr val="14203B"/>
                </a:solidFill>
                <a:latin typeface="Calibri"/>
              </a:rPr>
              <a:t>transporte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14203B"/>
                </a:solidFill>
                <a:latin typeface="Calibri"/>
              </a:rPr>
              <a:t>público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) — </a:t>
            </a:r>
            <a:r>
              <a:rPr sz="1350" b="0" i="0" dirty="0" err="1">
                <a:solidFill>
                  <a:srgbClr val="14203B"/>
                </a:solidFill>
                <a:latin typeface="Calibri"/>
              </a:rPr>
              <a:t>previsibilidade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 e </a:t>
            </a:r>
            <a:r>
              <a:rPr sz="1350" b="0" i="0" dirty="0" err="1">
                <a:solidFill>
                  <a:srgbClr val="14203B"/>
                </a:solidFill>
                <a:latin typeface="Calibri"/>
              </a:rPr>
              <a:t>pontualidade</a:t>
            </a:r>
            <a:r>
              <a:rPr sz="1350" b="0" i="0" dirty="0">
                <a:solidFill>
                  <a:srgbClr val="14203B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050" b="0" i="1" dirty="0" err="1">
                <a:solidFill>
                  <a:srgbClr val="6B7280"/>
                </a:solidFill>
                <a:latin typeface="Calibri"/>
              </a:rPr>
              <a:t>Observação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: </a:t>
            </a:r>
            <a:r>
              <a:rPr sz="1050" b="0" i="1" dirty="0" err="1">
                <a:solidFill>
                  <a:srgbClr val="6B7280"/>
                </a:solidFill>
                <a:latin typeface="Calibri"/>
              </a:rPr>
              <a:t>preencher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50" b="0" i="1" dirty="0" err="1">
                <a:solidFill>
                  <a:srgbClr val="6B7280"/>
                </a:solidFill>
                <a:latin typeface="Calibri"/>
              </a:rPr>
              <a:t>os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 RM; o </a:t>
            </a:r>
            <a:r>
              <a:rPr sz="1050" b="0" i="1" dirty="0" err="1">
                <a:solidFill>
                  <a:srgbClr val="6B7280"/>
                </a:solidFill>
                <a:latin typeface="Calibri"/>
              </a:rPr>
              <a:t>nome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 do </a:t>
            </a:r>
            <a:r>
              <a:rPr sz="1050" b="0" i="1" dirty="0" err="1">
                <a:solidFill>
                  <a:srgbClr val="6B7280"/>
                </a:solidFill>
                <a:latin typeface="Calibri"/>
              </a:rPr>
              <a:t>grupo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 é </a:t>
            </a:r>
            <a:r>
              <a:rPr sz="1050" b="0" i="1" dirty="0" err="1">
                <a:solidFill>
                  <a:srgbClr val="6B7280"/>
                </a:solidFill>
                <a:latin typeface="Calibri"/>
              </a:rPr>
              <a:t>uma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50" b="0" i="1" dirty="0" err="1">
                <a:solidFill>
                  <a:srgbClr val="6B7280"/>
                </a:solidFill>
                <a:latin typeface="Calibri"/>
              </a:rPr>
              <a:t>sugestão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050" b="0" i="1" dirty="0" err="1">
                <a:solidFill>
                  <a:srgbClr val="6B7280"/>
                </a:solidFill>
                <a:latin typeface="Calibri"/>
              </a:rPr>
              <a:t>editável</a:t>
            </a:r>
            <a:r>
              <a:rPr sz="1050" b="0" i="1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1/8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CIDADE ALFA ·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Dossiê do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34924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846320" cy="206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 dirty="0">
                <a:solidFill>
                  <a:srgbClr val="7C3AED"/>
                </a:solidFill>
                <a:latin typeface="Calibri"/>
              </a:rPr>
              <a:t>CONTEXTUALIZAÇÃO DO PROBLEMA</a:t>
            </a:r>
          </a:p>
          <a:p>
            <a:pPr algn="l">
              <a:spcAft>
                <a:spcPts val="800"/>
              </a:spcAft>
            </a:pPr>
            <a:r>
              <a:rPr sz="1250" b="0" i="0" dirty="0">
                <a:solidFill>
                  <a:srgbClr val="14203B"/>
                </a:solidFill>
                <a:latin typeface="Calibri"/>
              </a:rPr>
              <a:t>A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cidade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Alfa,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metrópole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de 4,8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milhões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de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habitantes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, é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conectada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por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sensores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e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sistemas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inteligentes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, mas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ainda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convive com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transporte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público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ineficiente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congestionamentos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e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baixa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pontualidade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A face humana do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problema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é Ana: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sai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às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6h15, o app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promete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o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ônibus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(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linha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374)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em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8 min, o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veículo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atrasa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,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chega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lotado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e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uma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viagem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de 45 min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vira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quase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 2h no </a:t>
            </a:r>
            <a:r>
              <a:rPr sz="1250" b="0" i="0" dirty="0" err="1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congestionamento</a:t>
            </a:r>
            <a:r>
              <a:rPr sz="1250" b="0" i="0" dirty="0">
                <a:solidFill>
                  <a:srgbClr val="14203B"/>
                </a:solidFill>
                <a:highlight>
                  <a:srgbClr val="FFFF00"/>
                </a:highlight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250" b="0" i="0" dirty="0" err="1">
                <a:solidFill>
                  <a:srgbClr val="14203B"/>
                </a:solidFill>
                <a:latin typeface="Calibri"/>
              </a:rPr>
              <a:t>Recorte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do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grupo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focar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a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sociedade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usuária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do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transporte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público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(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os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cidadãos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)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na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previsibilidade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e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na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pontualidade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, com a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solução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4203B"/>
                </a:solidFill>
                <a:latin typeface="Calibri"/>
              </a:rPr>
              <a:t>MobiAlfa</a:t>
            </a:r>
            <a:r>
              <a:rPr sz="1250" b="0" i="0" dirty="0">
                <a:solidFill>
                  <a:srgbClr val="1420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E1A36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609344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4,8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21408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5F7FF"/>
                </a:solidFill>
                <a:latin typeface="Calibri"/>
              </a:rPr>
              <a:t>habitantes na cidade Alfa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035808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E1A36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18211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94176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 dirty="0">
                <a:solidFill>
                  <a:srgbClr val="F5F7FF"/>
                </a:solidFill>
                <a:latin typeface="Calibri"/>
              </a:rPr>
              <a:t>dos </a:t>
            </a:r>
            <a:r>
              <a:rPr sz="1100" b="0" i="0" dirty="0" err="1">
                <a:solidFill>
                  <a:srgbClr val="F5F7FF"/>
                </a:solidFill>
                <a:latin typeface="Calibri"/>
              </a:rPr>
              <a:t>usuários</a:t>
            </a:r>
            <a:r>
              <a:rPr sz="1100" b="0" i="0" dirty="0">
                <a:solidFill>
                  <a:srgbClr val="F5F7FF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F5F7FF"/>
                </a:solidFill>
                <a:latin typeface="Calibri"/>
              </a:rPr>
              <a:t>ônibus</a:t>
            </a:r>
            <a:r>
              <a:rPr sz="1100" b="0" i="0" dirty="0">
                <a:solidFill>
                  <a:srgbClr val="F5F7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F5F7FF"/>
                </a:solidFill>
                <a:latin typeface="Calibri"/>
              </a:rPr>
              <a:t>gastam</a:t>
            </a:r>
            <a:r>
              <a:rPr sz="1100" b="0" i="0" dirty="0">
                <a:solidFill>
                  <a:srgbClr val="F5F7FF"/>
                </a:solidFill>
                <a:latin typeface="Calibri"/>
              </a:rPr>
              <a:t> ≥30 min no </a:t>
            </a:r>
            <a:r>
              <a:rPr sz="1100" b="0" i="0" dirty="0" err="1">
                <a:solidFill>
                  <a:srgbClr val="F5F7FF"/>
                </a:solidFill>
                <a:latin typeface="Calibri"/>
              </a:rPr>
              <a:t>trajeto</a:t>
            </a:r>
            <a:r>
              <a:rPr sz="1100" b="0" i="0" dirty="0">
                <a:solidFill>
                  <a:srgbClr val="F5F7FF"/>
                </a:solidFill>
                <a:latin typeface="Calibri"/>
              </a:rPr>
              <a:t> (IBGE)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608576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E1A36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47548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45 min → ~2h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266944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5F7FF"/>
                </a:solidFill>
                <a:latin typeface="Calibri"/>
              </a:rPr>
              <a:t>viagem de Ana nos horários de pico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2/8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EMPATIA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Mapa da empatia — a sociedade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1_mapa_empat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606" y="1554480"/>
            <a:ext cx="576878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3/8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Persona coletiva — A Sociedade de Alfa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2_pers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1554480"/>
            <a:ext cx="633679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4/8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JORNADA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Jornada do usuário — cidadão de Alfa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3_jorn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39" y="1554480"/>
            <a:ext cx="7742321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5/8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Visão do produto · É / Não é / Faz / Não faz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4_visao_prod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635" y="1554480"/>
            <a:ext cx="500273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6/8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FUNDAMENTOS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Regras de negócio e requisitos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6_requisi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74" y="1554480"/>
            <a:ext cx="519545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7/8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PLANTA BAIXA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Projeto conceitual (DER) — MobiAlfa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228600" dist="101600" dir="5400000" rotWithShape="0">
              <a:srgbClr val="000000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5_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791" y="1554480"/>
            <a:ext cx="6434417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8/8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MOBIALFA · CIDADE ALFA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606040"/>
            <a:ext cx="79552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5F7FF"/>
                </a:solidFill>
                <a:latin typeface="Calibri"/>
              </a:rPr>
              <a:t>Dados que devolvem tempo à cidade.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5F7FF"/>
                </a:solidFill>
                <a:latin typeface="Calibri"/>
              </a:rPr>
              <a:t>Fase 1 concluída: problema imerso, persona coletiva definida, visão do produto e modelo conceitual de dados prontos.</a:t>
            </a:r>
          </a:p>
          <a:p>
            <a:pPr algn="l">
              <a:spcAft>
                <a:spcPts val="800"/>
              </a:spcAft>
            </a:pPr>
            <a:r>
              <a:rPr sz="1300" b="0" i="1">
                <a:solidFill>
                  <a:srgbClr val="9AA7C7"/>
                </a:solidFill>
                <a:latin typeface="Calibri"/>
              </a:rPr>
              <a:t>Próximo passo (Fase 2): transformar o modelo conceitual em modelo lógico e físico.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   ·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546</Words>
  <Application>Microsoft Office PowerPoint</Application>
  <PresentationFormat>Apresentação na tela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Mendes</cp:lastModifiedBy>
  <cp:revision>1</cp:revision>
  <dcterms:created xsi:type="dcterms:W3CDTF">2013-01-27T09:14:16Z</dcterms:created>
  <dcterms:modified xsi:type="dcterms:W3CDTF">2026-09-03T22:11:32Z</dcterms:modified>
  <cp:category/>
</cp:coreProperties>
</file>