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title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2D3EE"/>
                </a:solidFill>
                <a:latin typeface="Calibri"/>
              </a:rPr>
              <a:t>PBL · FASE 1 — DESCOBERTA E 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783080"/>
            <a:ext cx="7863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5800" b="1" i="0">
                <a:solidFill>
                  <a:srgbClr val="F5F7FF"/>
                </a:solidFill>
                <a:latin typeface="Calibri"/>
              </a:rPr>
              <a:t>MobiAlfa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63240"/>
            <a:ext cx="55778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5F7FF"/>
                </a:solidFill>
                <a:latin typeface="Calibri"/>
              </a:rPr>
              <a:t>Solução do Desafio 1 — Mobilidade e Transporte Inteligente</a:t>
            </a:r>
          </a:p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9AA7C7"/>
                </a:solidFill>
                <a:latin typeface="Calibri"/>
              </a:rPr>
              <a:t>Cidade Alfa · Secretaria de Inovação Urbana e Dados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4617720"/>
            <a:ext cx="7955279" cy="1600200"/>
          </a:xfrm>
          <a:prstGeom prst="roundRect">
            <a:avLst>
              <a:gd name="adj" fmla="val 6000"/>
            </a:avLst>
          </a:prstGeom>
          <a:solidFill>
            <a:srgbClr val="0E1A36"/>
          </a:solidFill>
          <a:ln>
            <a:noFill/>
          </a:ln>
          <a:effectLst>
            <a:outerShdw blurRad="330200" dist="165100" dir="5400000" rotWithShape="0">
              <a:srgbClr val="000000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773168"/>
            <a:ext cx="74980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2D3EE"/>
                </a:solidFill>
                <a:latin typeface="Calibri"/>
              </a:rPr>
              <a:t>GRUPO ROTA CERTA  ·  FIAP · TURMA 1TSCO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120640"/>
            <a:ext cx="749807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F5F7FF"/>
                </a:solidFill>
                <a:latin typeface="Calibri"/>
              </a:rPr>
              <a:t>Alan   ·   Ana Paula Bessa   ·   Gilberto Batista Medeiros   ·   Lucas Mendes   ·   Pedro</a:t>
            </a:r>
          </a:p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9AA7C7"/>
                </a:solidFill>
                <a:latin typeface="Calibri"/>
              </a:rPr>
              <a:t>Persona adotada: a sociedade de Alfa (cidadãos usuários do transporte público) · Solução: MobiAlfa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10896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22D3EE"/>
                </a:solidFill>
                <a:latin typeface="Calibri"/>
              </a:rPr>
              <a:t>CIDADE ALFA · MOBIALFA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7680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F5F7FF"/>
                </a:solidFill>
                <a:latin typeface="Calibri"/>
              </a:rPr>
              <a:t>Mapa inicial da missão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36576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200" b="1">
                <a:solidFill>
                  <a:srgbClr val="F5F7FF"/>
                </a:solidFill>
                <a:latin typeface="Calibri"/>
              </a:rPr>
              <a:t>ENTREGA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8138160" cy="4892040"/>
          </a:xfrm>
          <a:prstGeom prst="roundRect">
            <a:avLst>
              <a:gd name="adj" fmla="val 3500"/>
            </a:avLst>
          </a:prstGeom>
          <a:solidFill>
            <a:srgbClr val="F5F7FF"/>
          </a:solidFill>
          <a:ln>
            <a:noFill/>
          </a:ln>
          <a:effectLst>
            <a:outerShdw blurRad="330200" dist="165100" dir="5400000" rotWithShape="0">
              <a:srgbClr val="000000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68680" y="1691640"/>
          <a:ext cx="74066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/>
                <a:gridCol w="1828800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COMPONENTES (ordem alfabética)</a:t>
                      </a:r>
                    </a:p>
                  </a:txBody>
                  <a:tcPr anchor="ctr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RM</a:t>
                      </a:r>
                    </a:p>
                  </a:txBody>
                  <a:tcPr anchor="ctr">
                    <a:solidFill>
                      <a:srgbClr val="7C3AE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4203B"/>
                          </a:solidFill>
                          <a:latin typeface="Calibri"/>
                        </a:rPr>
                        <a:t>Alan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4203B"/>
                          </a:solidFill>
                          <a:latin typeface="Calibri"/>
                        </a:rPr>
                        <a:t>[RM]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4203B"/>
                          </a:solidFill>
                          <a:latin typeface="Calibri"/>
                        </a:rPr>
                        <a:t>Ana Paula Bessa</a:t>
                      </a:r>
                    </a:p>
                  </a:txBody>
                  <a:tcPr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4203B"/>
                          </a:solidFill>
                          <a:latin typeface="Calibri"/>
                        </a:rPr>
                        <a:t>[RM]</a:t>
                      </a:r>
                    </a:p>
                  </a:txBody>
                  <a:tcPr anchor="ctr">
                    <a:solidFill>
                      <a:srgbClr val="EEF1F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4203B"/>
                          </a:solidFill>
                          <a:latin typeface="Calibri"/>
                        </a:rPr>
                        <a:t>Gilberto Batista Medeiros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4203B"/>
                          </a:solidFill>
                          <a:latin typeface="Calibri"/>
                        </a:rPr>
                        <a:t>[RM]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4203B"/>
                          </a:solidFill>
                          <a:latin typeface="Calibri"/>
                        </a:rPr>
                        <a:t>Lucas Mendes</a:t>
                      </a:r>
                    </a:p>
                  </a:txBody>
                  <a:tcPr anchor="ctr"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4203B"/>
                          </a:solidFill>
                          <a:latin typeface="Calibri"/>
                        </a:rPr>
                        <a:t>[RM]</a:t>
                      </a:r>
                    </a:p>
                  </a:txBody>
                  <a:tcPr anchor="ctr">
                    <a:solidFill>
                      <a:srgbClr val="EEF1F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4203B"/>
                          </a:solidFill>
                          <a:latin typeface="Calibri"/>
                        </a:rPr>
                        <a:t>Pedro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4203B"/>
                          </a:solidFill>
                          <a:latin typeface="Calibri"/>
                        </a:rPr>
                        <a:t>[RM]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68680" y="4160520"/>
            <a:ext cx="74066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7C3AED"/>
                </a:solidFill>
                <a:latin typeface="Calibri"/>
              </a:rPr>
              <a:t>Nome do grupo:  </a:t>
            </a:r>
            <a:r>
              <a:rPr sz="1500" b="0" i="0">
                <a:solidFill>
                  <a:srgbClr val="14203B"/>
                </a:solidFill>
                <a:latin typeface="Calibri"/>
              </a:rPr>
              <a:t>Rota Certa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7C3AED"/>
                </a:solidFill>
                <a:latin typeface="Calibri"/>
              </a:rPr>
              <a:t>Desafio escolhido:  </a:t>
            </a:r>
            <a:r>
              <a:rPr sz="1500" b="0" i="0">
                <a:solidFill>
                  <a:srgbClr val="14203B"/>
                </a:solidFill>
                <a:latin typeface="Calibri"/>
              </a:rPr>
              <a:t>Desafio 1 – Mobilidade e Transporte Inteligente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7C3AED"/>
                </a:solidFill>
                <a:latin typeface="Calibri"/>
              </a:rPr>
              <a:t>Persona / foco:  </a:t>
            </a:r>
            <a:r>
              <a:rPr sz="1350" b="0" i="0">
                <a:solidFill>
                  <a:srgbClr val="14203B"/>
                </a:solidFill>
                <a:latin typeface="Calibri"/>
              </a:rPr>
              <a:t>a sociedade de Alfa (cidadãos usuários do transporte público) — previsibilidade e pontualidade.</a:t>
            </a:r>
          </a:p>
          <a:p>
            <a:pPr algn="l">
              <a:spcAft>
                <a:spcPts val="600"/>
              </a:spcAft>
            </a:pPr>
            <a:r>
              <a:rPr sz="1050" b="0" i="1">
                <a:solidFill>
                  <a:srgbClr val="6B7280"/>
                </a:solidFill>
                <a:latin typeface="Calibri"/>
              </a:rPr>
              <a:t>Observação: preencher os RM; o nome do grupo é uma sugestão editável.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9AA7C7"/>
                </a:solidFill>
                <a:latin typeface="Calibri"/>
              </a:rPr>
              <a:t>Grupo Rota Certa   ·   Desafio 1 — Mobilidade e Transporte Inteligente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10896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22D3EE"/>
                </a:solidFill>
                <a:latin typeface="Calibri"/>
              </a:rPr>
              <a:t>CIDADE ALFA · MOBILIDADE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7680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F5F7FF"/>
                </a:solidFill>
                <a:latin typeface="Calibri"/>
              </a:rPr>
              <a:t>Dossiê do problema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36576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200" b="1">
                <a:solidFill>
                  <a:srgbClr val="F5F7FF"/>
                </a:solidFill>
                <a:latin typeface="Calibri"/>
              </a:rPr>
              <a:t>ENTREGA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5349240" cy="4892040"/>
          </a:xfrm>
          <a:prstGeom prst="roundRect">
            <a:avLst>
              <a:gd name="adj" fmla="val 3500"/>
            </a:avLst>
          </a:prstGeom>
          <a:solidFill>
            <a:srgbClr val="F5F7FF"/>
          </a:solidFill>
          <a:ln>
            <a:noFill/>
          </a:ln>
          <a:effectLst>
            <a:outerShdw blurRad="330200" dist="165100" dir="5400000" rotWithShape="0">
              <a:srgbClr val="000000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72768"/>
            <a:ext cx="484632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7C3AED"/>
                </a:solidFill>
                <a:latin typeface="Calibri"/>
              </a:rPr>
              <a:t>CONTEXTUALIZAÇÃO DO PROBLEMA</a:t>
            </a:r>
          </a:p>
          <a:p>
            <a:pPr algn="l">
              <a:spcAft>
                <a:spcPts val="800"/>
              </a:spcAft>
            </a:pPr>
            <a:r>
              <a:rPr sz="1250" b="0" i="0">
                <a:solidFill>
                  <a:srgbClr val="14203B"/>
                </a:solidFill>
                <a:latin typeface="Calibri"/>
              </a:rPr>
              <a:t>A cidade Alfa, metrópole de 4,8 milhões de habitantes, é conectada por sensores e sistemas inteligentes, mas ainda convive com transporte público ineficiente, congestionamentos e baixa pontualidade.</a:t>
            </a:r>
          </a:p>
          <a:p>
            <a:pPr algn="l">
              <a:spcAft>
                <a:spcPts val="800"/>
              </a:spcAft>
            </a:pPr>
            <a:r>
              <a:rPr sz="1250" b="0" i="0">
                <a:solidFill>
                  <a:srgbClr val="14203B"/>
                </a:solidFill>
                <a:latin typeface="Calibri"/>
              </a:rPr>
              <a:t>A face humana do problema é Ana: sai às 6h15, o app promete o ônibus (linha 374) em 8 min, o veículo atrasa, chega lotado e uma viagem de 45 min vira quase 2h no congestionamento.</a:t>
            </a:r>
          </a:p>
          <a:p>
            <a:pPr algn="l">
              <a:spcAft>
                <a:spcPts val="800"/>
              </a:spcAft>
            </a:pPr>
            <a:r>
              <a:rPr sz="1250" b="0" i="0">
                <a:solidFill>
                  <a:srgbClr val="14203B"/>
                </a:solidFill>
                <a:latin typeface="Calibri"/>
              </a:rPr>
              <a:t>Recorte do grupo: focar a sociedade usuária do transporte público (os cidadãos) na previsibilidade e na pontualidade, com a solução MobiAlfa.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08192" y="1536192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060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035040" y="146304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0E1A36"/>
          </a:solidFill>
          <a:ln>
            <a:noFill/>
          </a:ln>
          <a:effectLst>
            <a:outerShdw blurRad="330200" dist="165100" dir="5400000" rotWithShape="0">
              <a:srgbClr val="000000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609344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22D3EE"/>
                </a:solidFill>
                <a:latin typeface="Calibri"/>
              </a:rPr>
              <a:t>4,8 mi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121408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F5F7FF"/>
                </a:solidFill>
                <a:latin typeface="Calibri"/>
              </a:rPr>
              <a:t>habitantes na cidade Alfa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08192" y="310896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060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0" y="3035808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0E1A36"/>
          </a:solidFill>
          <a:ln>
            <a:noFill/>
          </a:ln>
          <a:effectLst>
            <a:outerShdw blurRad="330200" dist="165100" dir="5400000" rotWithShape="0">
              <a:srgbClr val="000000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3182112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22D3EE"/>
                </a:solidFill>
                <a:latin typeface="Calibri"/>
              </a:rPr>
              <a:t>70%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694176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F5F7FF"/>
                </a:solidFill>
                <a:latin typeface="Calibri"/>
              </a:rPr>
              <a:t>dos usuários de ônibus gastam ≥30 min no trajeto (IBGE)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08192" y="4681728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060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35040" y="4608576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0E1A36"/>
          </a:solidFill>
          <a:ln>
            <a:noFill/>
          </a:ln>
          <a:effectLst>
            <a:outerShdw blurRad="330200" dist="165100" dir="5400000" rotWithShape="0">
              <a:srgbClr val="000000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4754880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22D3EE"/>
                </a:solidFill>
                <a:latin typeface="Calibri"/>
              </a:rPr>
              <a:t>45 min → ~2h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5266944"/>
            <a:ext cx="2286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F5F7FF"/>
                </a:solidFill>
                <a:latin typeface="Calibri"/>
              </a:rPr>
              <a:t>viagem de Ana nos horários de pico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9AA7C7"/>
                </a:solidFill>
                <a:latin typeface="Calibri"/>
              </a:rPr>
              <a:t>Grupo Rota Certa   ·   Desafio 1 — Mobilidade e Transporte Inteligente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10896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22D3EE"/>
                </a:solidFill>
                <a:latin typeface="Calibri"/>
              </a:rPr>
              <a:t>BÚSSOLA · EMPATIA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7680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F5F7FF"/>
                </a:solidFill>
                <a:latin typeface="Calibri"/>
              </a:rPr>
              <a:t>Mapa da empatia — a sociedade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36576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200" b="1">
                <a:solidFill>
                  <a:srgbClr val="F5F7FF"/>
                </a:solidFill>
                <a:latin typeface="Calibri"/>
              </a:rPr>
              <a:t>ENTREGA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8229600" cy="4892040"/>
          </a:xfrm>
          <a:prstGeom prst="roundRect">
            <a:avLst>
              <a:gd name="adj" fmla="val 3500"/>
            </a:avLst>
          </a:prstGeom>
          <a:solidFill>
            <a:srgbClr val="F5F7FF"/>
          </a:solidFill>
          <a:ln>
            <a:noFill/>
          </a:ln>
          <a:effectLst>
            <a:outerShdw blurRad="330200" dist="165100" dir="5400000" rotWithShape="0">
              <a:srgbClr val="000000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1_mapa_empat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7606" y="1554480"/>
            <a:ext cx="5768788" cy="4526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510528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9AA7C7"/>
                </a:solidFill>
                <a:latin typeface="Calibri"/>
              </a:rPr>
              <a:t>Grupo Rota Certa   ·   Desafio 1 — Mobilidade e Transporte Inteligente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10896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22D3EE"/>
                </a:solidFill>
                <a:latin typeface="Calibri"/>
              </a:rPr>
              <a:t>BÚSSOLA · PERSONA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7680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F5F7FF"/>
                </a:solidFill>
                <a:latin typeface="Calibri"/>
              </a:rPr>
              <a:t>Persona coletiva — A Sociedade de Alfa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36576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200" b="1">
                <a:solidFill>
                  <a:srgbClr val="F5F7FF"/>
                </a:solidFill>
                <a:latin typeface="Calibri"/>
              </a:rPr>
              <a:t>ENTREGA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8229600" cy="4892040"/>
          </a:xfrm>
          <a:prstGeom prst="roundRect">
            <a:avLst>
              <a:gd name="adj" fmla="val 3500"/>
            </a:avLst>
          </a:prstGeom>
          <a:solidFill>
            <a:srgbClr val="F5F7FF"/>
          </a:solidFill>
          <a:ln>
            <a:noFill/>
          </a:ln>
          <a:effectLst>
            <a:outerShdw blurRad="330200" dist="165100" dir="5400000" rotWithShape="0">
              <a:srgbClr val="000000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2_perso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04" y="1554480"/>
            <a:ext cx="6336792" cy="4526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510528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9AA7C7"/>
                </a:solidFill>
                <a:latin typeface="Calibri"/>
              </a:rPr>
              <a:t>Grupo Rota Certa   ·   Desafio 1 — Mobilidade e Transporte Inteligente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10896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22D3EE"/>
                </a:solidFill>
                <a:latin typeface="Calibri"/>
              </a:rPr>
              <a:t>BÚSSOLA · JORNADA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7680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F5F7FF"/>
                </a:solidFill>
                <a:latin typeface="Calibri"/>
              </a:rPr>
              <a:t>Jornada do usuário — cidadão de Alfa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36576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200" b="1">
                <a:solidFill>
                  <a:srgbClr val="F5F7FF"/>
                </a:solidFill>
                <a:latin typeface="Calibri"/>
              </a:rPr>
              <a:t>ENTREGA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8229600" cy="4892040"/>
          </a:xfrm>
          <a:prstGeom prst="roundRect">
            <a:avLst>
              <a:gd name="adj" fmla="val 3500"/>
            </a:avLst>
          </a:prstGeom>
          <a:solidFill>
            <a:srgbClr val="F5F7FF"/>
          </a:solidFill>
          <a:ln>
            <a:noFill/>
          </a:ln>
          <a:effectLst>
            <a:outerShdw blurRad="330200" dist="165100" dir="5400000" rotWithShape="0">
              <a:srgbClr val="000000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3_jorna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839" y="1554480"/>
            <a:ext cx="7742321" cy="4526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510528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9AA7C7"/>
                </a:solidFill>
                <a:latin typeface="Calibri"/>
              </a:rPr>
              <a:t>Grupo Rota Certa   ·   Desafio 1 — Mobilidade e Transporte Inteligente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10896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22D3EE"/>
                </a:solidFill>
                <a:latin typeface="Calibri"/>
              </a:rPr>
              <a:t>BÚSSOLA · PRODUTO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7680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F5F7FF"/>
                </a:solidFill>
                <a:latin typeface="Calibri"/>
              </a:rPr>
              <a:t>Visão do produto · É / Não é / Faz / Não faz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36576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200" b="1">
                <a:solidFill>
                  <a:srgbClr val="F5F7FF"/>
                </a:solidFill>
                <a:latin typeface="Calibri"/>
              </a:rPr>
              <a:t>ENTREGA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8229600" cy="4892040"/>
          </a:xfrm>
          <a:prstGeom prst="roundRect">
            <a:avLst>
              <a:gd name="adj" fmla="val 3500"/>
            </a:avLst>
          </a:prstGeom>
          <a:solidFill>
            <a:srgbClr val="F5F7FF"/>
          </a:solidFill>
          <a:ln>
            <a:noFill/>
          </a:ln>
          <a:effectLst>
            <a:outerShdw blurRad="330200" dist="165100" dir="5400000" rotWithShape="0">
              <a:srgbClr val="000000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4_visao_produ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0635" y="1554480"/>
            <a:ext cx="5002730" cy="4526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510528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9AA7C7"/>
                </a:solidFill>
                <a:latin typeface="Calibri"/>
              </a:rPr>
              <a:t>Grupo Rota Certa   ·   Desafio 1 — Mobilidade e Transporte Inteligente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10896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22D3EE"/>
                </a:solidFill>
                <a:latin typeface="Calibri"/>
              </a:rPr>
              <a:t>FUNDAMENTOS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7680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F5F7FF"/>
                </a:solidFill>
                <a:latin typeface="Calibri"/>
              </a:rPr>
              <a:t>Regras de negócio e requisitos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36576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200" b="1">
                <a:solidFill>
                  <a:srgbClr val="F5F7FF"/>
                </a:solidFill>
                <a:latin typeface="Calibri"/>
              </a:rPr>
              <a:t>ENTREGA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8229600" cy="4892040"/>
          </a:xfrm>
          <a:prstGeom prst="roundRect">
            <a:avLst>
              <a:gd name="adj" fmla="val 3500"/>
            </a:avLst>
          </a:prstGeom>
          <a:solidFill>
            <a:srgbClr val="F5F7FF"/>
          </a:solidFill>
          <a:ln>
            <a:noFill/>
          </a:ln>
          <a:effectLst>
            <a:outerShdw blurRad="330200" dist="165100" dir="5400000" rotWithShape="0">
              <a:srgbClr val="000000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6_requisi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8689" y="1554480"/>
            <a:ext cx="4306622" cy="4526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510528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9AA7C7"/>
                </a:solidFill>
                <a:latin typeface="Calibri"/>
              </a:rPr>
              <a:t>Grupo Rota Certa   ·   Desafio 1 — Mobilidade e Transporte Inteligente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10896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22D3EE"/>
                </a:solidFill>
                <a:latin typeface="Calibri"/>
              </a:rPr>
              <a:t>PLANTA BAIXA DOS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7680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F5F7FF"/>
                </a:solidFill>
                <a:latin typeface="Calibri"/>
              </a:rPr>
              <a:t>Projeto conceitual (DER) — MobiAlfa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36576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200" b="1">
                <a:solidFill>
                  <a:srgbClr val="F5F7FF"/>
                </a:solidFill>
                <a:latin typeface="Calibri"/>
              </a:rPr>
              <a:t>ENTREGA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8229600" cy="4892040"/>
          </a:xfrm>
          <a:prstGeom prst="roundRect">
            <a:avLst>
              <a:gd name="adj" fmla="val 3500"/>
            </a:avLst>
          </a:prstGeom>
          <a:solidFill>
            <a:srgbClr val="F5F7FF"/>
          </a:solidFill>
          <a:ln>
            <a:noFill/>
          </a:ln>
          <a:effectLst>
            <a:outerShdw blurRad="330200" dist="165100" dir="5400000" rotWithShape="0">
              <a:srgbClr val="000000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5_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791" y="1554480"/>
            <a:ext cx="6434417" cy="4526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510528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9AA7C7"/>
                </a:solidFill>
                <a:latin typeface="Calibri"/>
              </a:rPr>
              <a:t>Grupo Rota Certa   ·   Desafio 1 — Mobilidade e Transporte Inteligente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10896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22D3EE"/>
                </a:solidFill>
                <a:latin typeface="Calibri"/>
              </a:rPr>
              <a:t>INOVAÇÃO PROPOSTA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7680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F5F7FF"/>
                </a:solidFill>
                <a:latin typeface="Calibri"/>
              </a:rPr>
              <a:t>SLA Vivo + ETA explicável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36576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200" b="1">
                <a:solidFill>
                  <a:srgbClr val="F5F7FF"/>
                </a:solidFill>
                <a:latin typeface="Calibri"/>
              </a:rPr>
              <a:t>EXTRA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" y="1490472"/>
            <a:ext cx="8138160" cy="1371600"/>
          </a:xfrm>
          <a:prstGeom prst="roundRect">
            <a:avLst>
              <a:gd name="adj" fmla="val 6000"/>
            </a:avLst>
          </a:prstGeom>
          <a:solidFill>
            <a:srgbClr val="060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8138160" cy="1371600"/>
          </a:xfrm>
          <a:prstGeom prst="roundRect">
            <a:avLst>
              <a:gd name="adj" fmla="val 6000"/>
            </a:avLst>
          </a:prstGeom>
          <a:solidFill>
            <a:srgbClr val="0E1A36"/>
          </a:solidFill>
          <a:ln>
            <a:noFill/>
          </a:ln>
          <a:effectLst>
            <a:outerShdw blurRad="330200" dist="165100" dir="5400000" rotWithShape="0">
              <a:srgbClr val="000000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91056"/>
            <a:ext cx="7589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0" i="0">
                <a:solidFill>
                  <a:srgbClr val="F5F7FF"/>
                </a:solidFill>
                <a:latin typeface="Calibri"/>
              </a:rPr>
              <a:t>De informativo para </a:t>
            </a:r>
            <a:r>
              <a:rPr sz="1550" b="1" i="0">
                <a:solidFill>
                  <a:srgbClr val="22D3EE"/>
                </a:solidFill>
                <a:latin typeface="Calibri"/>
              </a:rPr>
              <a:t>responsivo por design</a:t>
            </a:r>
            <a:r>
              <a:rPr sz="1550" b="0" i="0">
                <a:solidFill>
                  <a:srgbClr val="F5F7FF"/>
                </a:solidFill>
                <a:latin typeface="Calibri"/>
              </a:rPr>
              <a:t>: o MobiAlfa assume responsabilidade mensurável pela previsão.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" y="3090672"/>
            <a:ext cx="2615184" cy="2286000"/>
          </a:xfrm>
          <a:prstGeom prst="roundRect">
            <a:avLst>
              <a:gd name="adj" fmla="val 7000"/>
            </a:avLst>
          </a:prstGeom>
          <a:solidFill>
            <a:srgbClr val="060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3017520"/>
            <a:ext cx="2615184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330200" dist="165100" dir="5400000" rotWithShape="0">
              <a:srgbClr val="000000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c_b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328" y="3200400"/>
            <a:ext cx="658368" cy="6583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3977639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50" b="1" i="0">
                <a:solidFill>
                  <a:srgbClr val="7C3AED"/>
                </a:solidFill>
                <a:latin typeface="Calibri"/>
              </a:rPr>
              <a:t>ETA explicável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389120"/>
            <a:ext cx="2240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14203B"/>
                </a:solidFill>
                <a:latin typeface="Calibri"/>
              </a:rPr>
              <a:t>Mostra o motivo e o grau de confiança da previsão - não só o número.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3090672"/>
            <a:ext cx="2615184" cy="2286000"/>
          </a:xfrm>
          <a:prstGeom prst="roundRect">
            <a:avLst>
              <a:gd name="adj" fmla="val 7000"/>
            </a:avLst>
          </a:prstGeom>
          <a:solidFill>
            <a:srgbClr val="060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264408" y="3017520"/>
            <a:ext cx="2615184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330200" dist="165100" dir="5400000" rotWithShape="0">
              <a:srgbClr val="000000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c_lo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2816" y="3200400"/>
            <a:ext cx="658368" cy="65836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401568" y="3977639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50" b="1" i="0">
                <a:solidFill>
                  <a:srgbClr val="7C3AED"/>
                </a:solidFill>
                <a:latin typeface="Calibri"/>
              </a:rPr>
              <a:t>SLA Vivo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7288" y="4389120"/>
            <a:ext cx="2240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14203B"/>
                </a:solidFill>
                <a:latin typeface="Calibri"/>
              </a:rPr>
              <a:t>Compensa o cidadão automaticamente quando o desvio de ETA passa do limite, sem reclamação.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99048" y="3090672"/>
            <a:ext cx="2615184" cy="2286000"/>
          </a:xfrm>
          <a:prstGeom prst="roundRect">
            <a:avLst>
              <a:gd name="adj" fmla="val 7000"/>
            </a:avLst>
          </a:prstGeom>
          <a:solidFill>
            <a:srgbClr val="060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025896" y="3017520"/>
            <a:ext cx="2615184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330200" dist="165100" dir="5400000" rotWithShape="0">
              <a:srgbClr val="000000">
                <a:alpha val="7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c_equ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4304" y="3200400"/>
            <a:ext cx="658368" cy="6583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163056" y="3977639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50" b="1" i="0">
                <a:solidFill>
                  <a:srgbClr val="7C3AED"/>
                </a:solidFill>
                <a:latin typeface="Calibri"/>
              </a:rPr>
              <a:t>Auditável e explicável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08776" y="4389120"/>
            <a:ext cx="2240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 i="0">
                <a:solidFill>
                  <a:srgbClr val="14203B"/>
                </a:solidFill>
                <a:latin typeface="Calibri"/>
              </a:rPr>
              <a:t>Cada compensação guarda os fatores causais (trânsito, clima, ocorrências).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486400"/>
            <a:ext cx="8138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2D3EE"/>
                </a:solidFill>
                <a:latin typeface="Calibri"/>
              </a:rPr>
              <a:t>Diferencial: </a:t>
            </a:r>
            <a:r>
              <a:rPr sz="1300" b="0" i="0">
                <a:solidFill>
                  <a:srgbClr val="F5F7FF"/>
                </a:solidFill>
                <a:latin typeface="Calibri"/>
              </a:rPr>
              <a:t>nenhum app de transporte público hoje compensa automaticamente falhas de previsão.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9AA7C7"/>
                </a:solidFill>
                <a:latin typeface="Calibri"/>
              </a:rPr>
              <a:t>Grupo Rota Certa   ·   Desafio 1 — Mobilidade e Transporte Inteligente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title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2194560"/>
            <a:ext cx="7863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2D3EE"/>
                </a:solidFill>
                <a:latin typeface="Calibri"/>
              </a:rPr>
              <a:t>MOBIALFA · CIDADE ALFA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2606040"/>
            <a:ext cx="54864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 i="0">
                <a:solidFill>
                  <a:srgbClr val="F5F7FF"/>
                </a:solidFill>
                <a:latin typeface="Calibri"/>
              </a:rPr>
              <a:t>Dados que devolvem tempo à cidade.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60520"/>
            <a:ext cx="54864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F5F7FF"/>
                </a:solidFill>
                <a:latin typeface="Calibri"/>
              </a:rPr>
              <a:t>Fase 1 concluída: problema imerso, persona coletiva definida, visão do produto e modelo conceitual de dados prontos.</a:t>
            </a:r>
          </a:p>
          <a:p>
            <a:pPr algn="l">
              <a:spcAft>
                <a:spcPts val="800"/>
              </a:spcAft>
            </a:pPr>
            <a:r>
              <a:rPr sz="1300" b="0" i="1">
                <a:solidFill>
                  <a:srgbClr val="9AA7C7"/>
                </a:solidFill>
                <a:latin typeface="Calibri"/>
              </a:rPr>
              <a:t>Próximo passo (Fase 2): transformar o modelo conceitual em modelo lógico e físico.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9AA7C7"/>
                </a:solidFill>
                <a:latin typeface="Calibri"/>
              </a:rPr>
              <a:t>Grupo Rota Certa   ·   Desafio 1 — Mobilidade e Transporte Inteligente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